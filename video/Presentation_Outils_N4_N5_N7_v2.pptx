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27"/>
    <p:sldId id="263" r:id="rId9"/>
    <p:sldId id="264" r:id="rId10"/>
    <p:sldId id="265" r:id="rId11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200da44-39eb-5bfa-eb9f-9f75fa3df332}">
          <p14:sldIdLst>
            <p14:sldId id="256"/>
            <p14:sldId id="257"/>
            <p14:sldId id="258"/>
          </p14:sldIdLst>
        </p14:section>
        <p14:section name="1. Le constat" id="{a7f0d99f-d7ca-03d5-933b-33d5bae90a47}">
          <p14:sldIdLst>
            <p14:sldId id="259"/>
            <p14:sldId id="260"/>
            <p14:sldId id="261"/>
            <p14:sldId id="262"/>
            <p14:sldId id="263"/>
          </p14:sldIdLst>
        </p14:section>
        <p14:section name="2. Les solutions" id="{e8e56c58-6403-957e-e10f-8949da85ae28}">
          <p14:sldIdLst>
            <p14:sldId id="264"/>
            <p14:sldId id="265"/>
            <p14:sldId id="266"/>
            <p14:sldId id="267"/>
            <p14:sldId id="268"/>
          </p14:sldIdLst>
        </p14:section>
        <p14:section name="3. Apport &amp; proposition" id="{2f2ce748-ff0f-11ee-b788-52d9ef159646}">
          <p14:sldIdLst>
            <p14:sldId id="269"/>
            <p14:sldId id="270"/>
            <p14:sldId id="271"/>
            <p14:sldId id="272"/>
            <p14:sldId id="273"/>
          </p14:sldIdLst>
        </p14:section>
        <p14:section name="4. Démonstration" id="{3215d1df-ad3e-631d-10a1-a00282d25278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Présentation des trois outils métier N4, N5 et N7 : ce qu'ils changent concrètement, avant /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Quatre temps : le constat, les solutions, l'apport pour Eurofeu et deux options, puis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 idée née du terrain il y a trois ans, développée sur mon temps personnel, avec l'aide d'un cousin développeur et d'un beau-frère pour les tests. Aujourd'hui trois outils opérationnels.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pars des difficultés concrètes rencontrées par les équipes, métier par métier.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Les trois métiers ont les mêmes freins : du temps perdu, un rendu qui varie d'une personne à l'autre, et des outils génériques (PowerPoint, Excel, Fathom). D'où l'idée d'outils pensés pour nos métiers.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outils, un par métier, construits sur la même logique de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même logique pour les trois outils : on charge le plan du client, on le met à l'échelle avec une cote connue, on implante avec les règles APSAD intégrées, et l'outil produit les livrables.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Après les outils, ce qu'ils changent pour l'entreprise — puis la question de leur valeur.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gains pour Eurofeu : une longueur d'avance, des dossiers homogènes, du temps gagné, des dossiers plus professionnels, des économies (Fathom) et une conformité mieux maîtrisée.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Pour donner un ordre de grandeur : de tels modules métier représentent environ 100 000 €.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1 : l'achat de licences auprès de mon beau-frère, qui les commercialise. Le tarif dépend du nombre de licences, de l'exclusivité, des modules et des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2 : une prime exceptionnelle, une augmentation et une évolution de poste, en échange des outils et de leur développement en interne pour Eurofeu.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à la démonstration des trois outils en conditions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fin, à afficher après la démonstration, pendant l'échange.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seul constat pour les trois métiers.</a:t>
            </a:r>
          </a:p>
          <a:p>
            <a:r>
              <a:t>N5 : l'étude est approximative (couverture vérifiée à la cordelette) et le plan est redessiné sur PowerPoint ; la note de calcul passe par Fathom (4 000 €/an).</a:t>
            </a:r>
          </a:p>
          <a:p>
            <a:r>
              <a:t>N7 : l'étude est longue, faite à la main ; le DOE est long à réaliser ; le plan technicien reste approximatif.</a:t>
            </a:r>
          </a:p>
          <a:p>
            <a:r>
              <a:t>N4 : des dossiers non homogènes (fluo, gommettes selon le commercial) et un plan technicien approximatif.</a:t>
            </a:r>
          </a:p>
          <a:p>
            <a:r>
              <a:t>Conclusion : on refait les plans à chaque étape et on perd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propre, étude nickel : l'implantation se fait sur le plan du client mis à l'échelle ; la couverture des RIA est calculée, murs et obstacles compris, avec des alertes en direct. Fini la cordelette.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de calcul intégrée (HydraRIA) : pertes de charge, pression au RIA le plus défavorisé, temps d'arrivée d'eau, et la vue isométrique du réseau. Plus besoin de Fathom (4 000 €/an).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fort : le DOE se génère tout seul. Réception, plan d'implantation, plan isométrique et note de calcul, fiches techniques : 37 pages réunies par l'outil.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propre, étude nickel : paramètres R7 par local, implantation des détecteurs, câblage et synoptique dans le même 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DOE en 1 clic : le dossier complet (plans par niveau, synoptique, bilan de puissance) est produit directement à partir de l'étude.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fort : le fichier Excel de chiffrage Eurofeu se remplit automatiquement avec les quantités de l'étude. Le chiffrage est prêt sans ressaisie.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dossier d'étude N4 Eurofeu se complète automatiquement : pochette, caractéristiques de l'établissement, audit de sécurité R4, relevé sur site. Le même rendu pour tous les commerciaux.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plan technicien est propre et numéroté : les appareils à remplacer, à réformer ou à ajouter sont repérés sur le plan avec la liste correspondante. Le technicien sait exactement où intervenir.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COUVERTURE-image-1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DIV_CONSTAT-image-1.jpe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DIV_SOLUTIONS-image-1.jpe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DIV_APPORT-image-1.jpe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DIV_DEMO-image-1.jpeg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CONTENU-image-2.jpeg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FIN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2743200"/>
            <a:ext cx="46634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94360" y="4343400"/>
            <a:ext cx="4663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i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CONSTA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SOLUTION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APPOR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DEM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65760"/>
            <a:ext cx="246888" cy="25054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-5-1.png"/><Relationship Id="rId5" Type="http://schemas.openxmlformats.org/officeDocument/2006/relationships/image" Target="../media/image-6-3.png"/><Relationship Id="rId6" Type="http://schemas.openxmlformats.org/officeDocument/2006/relationships/image" Target="../media/image-5-3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-6-1.png"/><Relationship Id="rId10" Type="http://schemas.openxmlformats.org/officeDocument/2006/relationships/image" Target="../media/image-6-5.png"/><Relationship Id="rId11" Type="http://schemas.openxmlformats.org/officeDocument/2006/relationships/image" Target="../media/image-7-3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-7-2.png"/><Relationship Id="rId15" Type="http://schemas.openxmlformats.org/officeDocument/2006/relationships/image" Target="../media/image-7-4.png"/><Relationship Id="rId1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27432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OUTILS MÉTIER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N4 · N5 · N7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94360" y="4343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Présentation à la Direction Générale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Romain Couchez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Sommaire</a:t>
            </a:r>
            <a:endParaRPr lang="en-US" sz="3000" dirty="0"/>
          </a:p>
        </p:txBody>
      </p:sp>
      <p:sp>
        <p:nvSpPr>
          <p:cNvPr id="3" name="Carte Le constat"/>
          <p:cNvSpPr/>
          <p:nvPr/>
        </p:nvSpPr>
        <p:spPr>
          <a:xfrm>
            <a:off x="548640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4" name="Numéro 1."/>
          <p:cNvSpPr txBox="1"/>
          <p:nvPr/>
        </p:nvSpPr>
        <p:spPr>
          <a:xfrm>
            <a:off x="822960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</a:t>
            </a:r>
            <a:endParaRPr lang="en-US" sz="4400" dirty="0"/>
          </a:p>
        </p:txBody>
      </p:sp>
      <p:sp>
        <p:nvSpPr>
          <p:cNvPr id="5" name="Titre Le constat"/>
          <p:cNvSpPr txBox="1"/>
          <p:nvPr/>
        </p:nvSpPr>
        <p:spPr>
          <a:xfrm>
            <a:off x="822960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 constat</a:t>
            </a:r>
            <a:endParaRPr lang="en-US" sz="2000" dirty="0"/>
          </a:p>
        </p:txBody>
      </p:sp>
      <p:sp>
        <p:nvSpPr>
          <p:cNvPr id="6" name="Texte Le constat"/>
          <p:cNvSpPr txBox="1"/>
          <p:nvPr/>
        </p:nvSpPr>
        <p:spPr>
          <a:xfrm>
            <a:off x="822960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Les difficultés rencontrées sur nos dossiers N5, N7 et N4</a:t>
            </a:r>
            <a:endParaRPr lang="en-US" sz="1600" dirty="0"/>
          </a:p>
        </p:txBody>
      </p:sp>
      <p:sp>
        <p:nvSpPr>
          <p:cNvPr id="7" name="Carte Les solutions"/>
          <p:cNvSpPr/>
          <p:nvPr/>
        </p:nvSpPr>
        <p:spPr>
          <a:xfrm>
            <a:off x="3390595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8" name="Numéro 2."/>
          <p:cNvSpPr txBox="1"/>
          <p:nvPr/>
        </p:nvSpPr>
        <p:spPr>
          <a:xfrm>
            <a:off x="3664915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2.</a:t>
            </a:r>
            <a:endParaRPr lang="en-US" sz="4400" dirty="0"/>
          </a:p>
        </p:txBody>
      </p:sp>
      <p:sp>
        <p:nvSpPr>
          <p:cNvPr id="9" name="Titre Les solutions"/>
          <p:cNvSpPr txBox="1"/>
          <p:nvPr/>
        </p:nvSpPr>
        <p:spPr>
          <a:xfrm>
            <a:off x="3664915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Les solutions</a:t>
            </a:r>
            <a:endParaRPr lang="en-US" sz="2000" dirty="0"/>
          </a:p>
        </p:txBody>
      </p:sp>
      <p:sp>
        <p:nvSpPr>
          <p:cNvPr id="10" name="Texte Les solutions"/>
          <p:cNvSpPr txBox="1"/>
          <p:nvPr/>
        </p:nvSpPr>
        <p:spPr>
          <a:xfrm>
            <a:off x="3664915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Trois outils métier qui produisent plans, DOE et notes de calcul</a:t>
            </a:r>
            <a:endParaRPr lang="en-US" sz="1600" dirty="0"/>
          </a:p>
        </p:txBody>
      </p:sp>
      <p:sp>
        <p:nvSpPr>
          <p:cNvPr id="11" name="Carte Apport &amp; proposition"/>
          <p:cNvSpPr/>
          <p:nvPr/>
        </p:nvSpPr>
        <p:spPr>
          <a:xfrm>
            <a:off x="6232550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2" name="Numéro 3."/>
          <p:cNvSpPr txBox="1"/>
          <p:nvPr/>
        </p:nvSpPr>
        <p:spPr>
          <a:xfrm>
            <a:off x="6506870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3.</a:t>
            </a:r>
            <a:endParaRPr lang="en-US" sz="4400" dirty="0"/>
          </a:p>
        </p:txBody>
      </p:sp>
      <p:sp>
        <p:nvSpPr>
          <p:cNvPr id="13" name="Titre Apport &amp;amp; proposition"/>
          <p:cNvSpPr txBox="1"/>
          <p:nvPr/>
        </p:nvSpPr>
        <p:spPr>
          <a:xfrm>
            <a:off x="6506870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Apport &amp; proposition</a:t>
            </a:r>
            <a:endParaRPr lang="en-US" sz="2000" dirty="0"/>
          </a:p>
        </p:txBody>
      </p:sp>
      <p:sp>
        <p:nvSpPr>
          <p:cNvPr id="14" name="Texte Apport &amp;amp; proposition"/>
          <p:cNvSpPr txBox="1"/>
          <p:nvPr/>
        </p:nvSpPr>
        <p:spPr>
          <a:xfrm>
            <a:off x="6506870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Ce qu'Eurofeu y gagne, la valeur de ces modules, deux options</a:t>
            </a:r>
            <a:endParaRPr lang="en-US" sz="1600" dirty="0"/>
          </a:p>
        </p:txBody>
      </p:sp>
      <p:sp>
        <p:nvSpPr>
          <p:cNvPr id="15" name="Carte Démonstration"/>
          <p:cNvSpPr/>
          <p:nvPr/>
        </p:nvSpPr>
        <p:spPr>
          <a:xfrm>
            <a:off x="9074506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6" name="Numéro 4."/>
          <p:cNvSpPr txBox="1"/>
          <p:nvPr/>
        </p:nvSpPr>
        <p:spPr>
          <a:xfrm>
            <a:off x="9348826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4.</a:t>
            </a:r>
            <a:endParaRPr lang="en-US" sz="4400" dirty="0"/>
          </a:p>
        </p:txBody>
      </p:sp>
      <p:sp>
        <p:nvSpPr>
          <p:cNvPr id="17" name="Titre Démonstration"/>
          <p:cNvSpPr txBox="1"/>
          <p:nvPr/>
        </p:nvSpPr>
        <p:spPr>
          <a:xfrm>
            <a:off x="9348826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Démonstration</a:t>
            </a:r>
            <a:endParaRPr lang="en-US" sz="2000" dirty="0"/>
          </a:p>
        </p:txBody>
      </p:sp>
      <p:sp>
        <p:nvSpPr>
          <p:cNvPr id="18" name="Texte Démonstration"/>
          <p:cNvSpPr txBox="1"/>
          <p:nvPr/>
        </p:nvSpPr>
        <p:spPr>
          <a:xfrm>
            <a:off x="9348826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Les trois outils en conditions réelles</a:t>
            </a:r>
            <a:endParaRPr lang="en-US" sz="1600" dirty="0"/>
          </a:p>
        </p:txBody>
      </p:sp>
      <p:sp>
        <p:nvSpPr>
          <p:cNvPr id="19" name="Bandeau"/>
          <p:cNvSpPr/>
          <p:nvPr/>
        </p:nvSpPr>
        <p:spPr>
          <a:xfrm>
            <a:off x="548640" y="498348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Bandeau – texte"/>
          <p:cNvSpPr txBox="1"/>
          <p:nvPr/>
        </p:nvSpPr>
        <p:spPr>
          <a:xfrm>
            <a:off x="822960" y="49834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Objectif : vous présenter les outils, leur apport pour Eurofeu et deux options pour la suite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D'où viennent ces outils ?</a:t>
            </a:r>
            <a:endParaRPr lang="en-US" sz="3000" dirty="0"/>
          </a:p>
        </p:txBody>
      </p:sp>
      <p:sp>
        <p:nvSpPr>
          <p:cNvPr id="3" name="Fil chronologique"/>
          <p:cNvSpPr/>
          <p:nvPr/>
        </p:nvSpPr>
        <p:spPr>
          <a:xfrm>
            <a:off x="960120" y="1920240"/>
            <a:ext cx="8525866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</a:ln>
        </p:spPr>
      </p:sp>
      <p:sp>
        <p:nvSpPr>
          <p:cNvPr id="4" name="Icône DEPUIS 3 ANS – fond"/>
          <p:cNvSpPr/>
          <p:nvPr/>
        </p:nvSpPr>
        <p:spPr>
          <a:xfrm>
            <a:off x="548640" y="15087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cône DEPUIS 3 AN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30959"/>
            <a:ext cx="378562" cy="378562"/>
          </a:xfrm>
          <a:prstGeom prst="rect">
            <a:avLst/>
          </a:prstGeom>
        </p:spPr>
      </p:pic>
      <p:sp>
        <p:nvSpPr>
          <p:cNvPr id="6" name="Étiquette DEPUIS 3 ANS"/>
          <p:cNvSpPr txBox="1"/>
          <p:nvPr/>
        </p:nvSpPr>
        <p:spPr>
          <a:xfrm>
            <a:off x="548640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DEPUIS 3 ANS</a:t>
            </a:r>
            <a:endParaRPr lang="en-US" sz="1200" dirty="0"/>
          </a:p>
        </p:txBody>
      </p:sp>
      <p:sp>
        <p:nvSpPr>
          <p:cNvPr id="7" name="Titre DEPUIS 3 ANS"/>
          <p:cNvSpPr txBox="1"/>
          <p:nvPr/>
        </p:nvSpPr>
        <p:spPr>
          <a:xfrm>
            <a:off x="548640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Une idée née du terrain</a:t>
            </a:r>
            <a:endParaRPr lang="en-US" sz="2000" dirty="0"/>
          </a:p>
        </p:txBody>
      </p:sp>
      <p:sp>
        <p:nvSpPr>
          <p:cNvPr id="8" name="Texte DEPUIS 3 ANS"/>
          <p:cNvSpPr txBox="1"/>
          <p:nvPr/>
        </p:nvSpPr>
        <p:spPr>
          <a:xfrm>
            <a:off x="548640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Les problématiques rencontrées au quotidien chez Eurofeu</a:t>
            </a:r>
            <a:endParaRPr lang="en-US" sz="1600" dirty="0"/>
          </a:p>
        </p:txBody>
      </p:sp>
      <p:sp>
        <p:nvSpPr>
          <p:cNvPr id="9" name="Icône LE DÉVELOPPEMENT – fond"/>
          <p:cNvSpPr/>
          <p:nvPr/>
        </p:nvSpPr>
        <p:spPr>
          <a:xfrm>
            <a:off x="3390595" y="15087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cône LE DÉVELOPPEM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794" y="1730959"/>
            <a:ext cx="378562" cy="378562"/>
          </a:xfrm>
          <a:prstGeom prst="rect">
            <a:avLst/>
          </a:prstGeom>
        </p:spPr>
      </p:pic>
      <p:sp>
        <p:nvSpPr>
          <p:cNvPr id="11" name="Étiquette LE DÉVELOPPEMENT"/>
          <p:cNvSpPr txBox="1"/>
          <p:nvPr/>
        </p:nvSpPr>
        <p:spPr>
          <a:xfrm>
            <a:off x="3390595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 DÉVELOPPEMENT</a:t>
            </a:r>
            <a:endParaRPr lang="en-US" sz="1200" dirty="0"/>
          </a:p>
        </p:txBody>
      </p:sp>
      <p:sp>
        <p:nvSpPr>
          <p:cNvPr id="12" name="Titre LE DÉVELOPPEMENT"/>
          <p:cNvSpPr txBox="1"/>
          <p:nvPr/>
        </p:nvSpPr>
        <p:spPr>
          <a:xfrm>
            <a:off x="3390595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Sur mon temps personnel</a:t>
            </a:r>
            <a:endParaRPr lang="en-US" sz="2000" dirty="0"/>
          </a:p>
        </p:txBody>
      </p:sp>
      <p:sp>
        <p:nvSpPr>
          <p:cNvPr id="13" name="Texte LE DÉVELOPPEMENT"/>
          <p:cNvSpPr txBox="1"/>
          <p:nvPr/>
        </p:nvSpPr>
        <p:spPr>
          <a:xfrm>
            <a:off x="3390595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Des outils réalisés principalement par mes soins</a:t>
            </a:r>
            <a:endParaRPr lang="en-US" sz="1600" dirty="0"/>
          </a:p>
        </p:txBody>
      </p:sp>
      <p:sp>
        <p:nvSpPr>
          <p:cNvPr id="14" name="Icône LES RENFORTS – fond"/>
          <p:cNvSpPr/>
          <p:nvPr/>
        </p:nvSpPr>
        <p:spPr>
          <a:xfrm>
            <a:off x="6232550" y="15087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ône LES RENFOR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750" y="1730959"/>
            <a:ext cx="378562" cy="378562"/>
          </a:xfrm>
          <a:prstGeom prst="rect">
            <a:avLst/>
          </a:prstGeom>
        </p:spPr>
      </p:pic>
      <p:sp>
        <p:nvSpPr>
          <p:cNvPr id="16" name="Étiquette LES RENFORTS"/>
          <p:cNvSpPr txBox="1"/>
          <p:nvPr/>
        </p:nvSpPr>
        <p:spPr>
          <a:xfrm>
            <a:off x="6232550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 RENFORTS</a:t>
            </a:r>
            <a:endParaRPr lang="en-US" sz="1200" dirty="0"/>
          </a:p>
        </p:txBody>
      </p:sp>
      <p:sp>
        <p:nvSpPr>
          <p:cNvPr id="17" name="Titre LES RENFORTS"/>
          <p:cNvSpPr txBox="1"/>
          <p:nvPr/>
        </p:nvSpPr>
        <p:spPr>
          <a:xfrm>
            <a:off x="6232550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Deux appuis précieux</a:t>
            </a:r>
            <a:endParaRPr lang="en-US" sz="2000" dirty="0"/>
          </a:p>
        </p:txBody>
      </p:sp>
      <p:sp>
        <p:nvSpPr>
          <p:cNvPr id="18" name="Texte LES RENFORTS"/>
          <p:cNvSpPr txBox="1"/>
          <p:nvPr/>
        </p:nvSpPr>
        <p:spPr>
          <a:xfrm>
            <a:off x="6232550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Mon cousin, développeur, pour corriger les bugs tenaces ; mon beau-frère pour la phase de test</a:t>
            </a:r>
            <a:endParaRPr lang="en-US" sz="1600" dirty="0"/>
          </a:p>
        </p:txBody>
      </p:sp>
      <p:sp>
        <p:nvSpPr>
          <p:cNvPr id="19" name="Icône AUJOURD'HUI – fond"/>
          <p:cNvSpPr/>
          <p:nvPr/>
        </p:nvSpPr>
        <p:spPr>
          <a:xfrm>
            <a:off x="9074506" y="1508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ône AUJOURD'HU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705" y="1730959"/>
            <a:ext cx="378562" cy="378562"/>
          </a:xfrm>
          <a:prstGeom prst="rect">
            <a:avLst/>
          </a:prstGeom>
        </p:spPr>
      </p:pic>
      <p:sp>
        <p:nvSpPr>
          <p:cNvPr id="21" name="Étiquette AUJOURD&amp;apos;HUI"/>
          <p:cNvSpPr txBox="1"/>
          <p:nvPr/>
        </p:nvSpPr>
        <p:spPr>
          <a:xfrm>
            <a:off x="9074506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AUJOURD'HUI</a:t>
            </a:r>
            <a:endParaRPr lang="en-US" sz="1200" dirty="0"/>
          </a:p>
        </p:txBody>
      </p:sp>
      <p:sp>
        <p:nvSpPr>
          <p:cNvPr id="22" name="Titre AUJOURD&amp;apos;HUI"/>
          <p:cNvSpPr txBox="1"/>
          <p:nvPr/>
        </p:nvSpPr>
        <p:spPr>
          <a:xfrm>
            <a:off x="9074506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Trois outils opérationnels</a:t>
            </a:r>
            <a:endParaRPr lang="en-US" sz="2000" dirty="0"/>
          </a:p>
        </p:txBody>
      </p:sp>
      <p:sp>
        <p:nvSpPr>
          <p:cNvPr id="23" name="Texte AUJOURD&amp;apos;HUI"/>
          <p:cNvSpPr txBox="1"/>
          <p:nvPr/>
        </p:nvSpPr>
        <p:spPr>
          <a:xfrm>
            <a:off x="9074506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N4, N5 et N7, aujourd'hui commercialisés par mon beau-frère</a:t>
            </a:r>
            <a:endParaRPr lang="en-US" sz="1600" dirty="0"/>
          </a:p>
        </p:txBody>
      </p:sp>
      <p:sp>
        <p:nvSpPr>
          <p:cNvPr id="24" name="Bandeau"/>
          <p:cNvSpPr/>
          <p:nvPr/>
        </p:nvSpPr>
        <p:spPr>
          <a:xfrm>
            <a:off x="548640" y="507492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Bandeau – texte"/>
          <p:cNvSpPr txBox="1"/>
          <p:nvPr/>
        </p:nvSpPr>
        <p:spPr>
          <a:xfrm>
            <a:off x="822960" y="5074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 outils conçus par quelqu'un du métier, pour répondre à nos besoins réels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CONSTAT :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DIFFICULTÉS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 TERRAIN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Trois métiers, les mêmes freins</a:t>
            </a:r>
            <a:endParaRPr lang="en-US" sz="3000" dirty="0"/>
          </a:p>
        </p:txBody>
      </p:sp>
      <p:sp>
        <p:nvSpPr>
          <p:cNvPr id="3" name="Bloc Du temps"/>
          <p:cNvSpPr/>
          <p:nvPr/>
        </p:nvSpPr>
        <p:spPr>
          <a:xfrm>
            <a:off x="548640" y="1417320"/>
            <a:ext cx="3514954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Icône Du temps – fond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Du temp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1922526"/>
            <a:ext cx="315468" cy="315468"/>
          </a:xfrm>
          <a:prstGeom prst="rect">
            <a:avLst/>
          </a:prstGeom>
        </p:spPr>
      </p:pic>
      <p:sp>
        <p:nvSpPr>
          <p:cNvPr id="6" name="Étiquette Du temps"/>
          <p:cNvSpPr txBox="1"/>
          <p:nvPr/>
        </p:nvSpPr>
        <p:spPr>
          <a:xfrm>
            <a:off x="868680" y="2651760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IL NOUS MANQUE</a:t>
            </a:r>
            <a:endParaRPr lang="en-US" sz="1200" dirty="0"/>
          </a:p>
        </p:txBody>
      </p:sp>
      <p:sp>
        <p:nvSpPr>
          <p:cNvPr id="7" name="Titre Du temps"/>
          <p:cNvSpPr txBox="1"/>
          <p:nvPr/>
        </p:nvSpPr>
        <p:spPr>
          <a:xfrm>
            <a:off x="868680" y="2926080"/>
            <a:ext cx="2874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Du temps</a:t>
            </a:r>
            <a:endParaRPr lang="en-US" sz="2400" dirty="0"/>
          </a:p>
        </p:txBody>
      </p:sp>
      <p:sp>
        <p:nvSpPr>
          <p:cNvPr id="8" name="Texte Du temps"/>
          <p:cNvSpPr txBox="1"/>
          <p:nvPr/>
        </p:nvSpPr>
        <p:spPr>
          <a:xfrm>
            <a:off x="868680" y="3474720"/>
            <a:ext cx="28748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Études, plans et DOE réalisés à la main, parfois plusieurs fois pour un même dossier</a:t>
            </a:r>
            <a:endParaRPr lang="en-US" sz="1600" dirty="0"/>
          </a:p>
        </p:txBody>
      </p:sp>
      <p:sp>
        <p:nvSpPr>
          <p:cNvPr id="9" name="Bloc De l'homogénéité"/>
          <p:cNvSpPr/>
          <p:nvPr/>
        </p:nvSpPr>
        <p:spPr>
          <a:xfrm>
            <a:off x="4337914" y="1417320"/>
            <a:ext cx="3514954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Icône De l'homogénéité – fond"/>
          <p:cNvSpPr/>
          <p:nvPr/>
        </p:nvSpPr>
        <p:spPr>
          <a:xfrm>
            <a:off x="4657954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ône De l'homogénéité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120" y="1922526"/>
            <a:ext cx="315468" cy="315468"/>
          </a:xfrm>
          <a:prstGeom prst="rect">
            <a:avLst/>
          </a:prstGeom>
        </p:spPr>
      </p:pic>
      <p:sp>
        <p:nvSpPr>
          <p:cNvPr id="12" name="Étiquette De l&amp;apos;homogénéité"/>
          <p:cNvSpPr txBox="1"/>
          <p:nvPr/>
        </p:nvSpPr>
        <p:spPr>
          <a:xfrm>
            <a:off x="4657954" y="2651760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IL NOUS MANQUE</a:t>
            </a:r>
            <a:endParaRPr lang="en-US" sz="1200" dirty="0"/>
          </a:p>
        </p:txBody>
      </p:sp>
      <p:sp>
        <p:nvSpPr>
          <p:cNvPr id="13" name="Titre De l&amp;apos;homogénéité"/>
          <p:cNvSpPr txBox="1"/>
          <p:nvPr/>
        </p:nvSpPr>
        <p:spPr>
          <a:xfrm>
            <a:off x="4657954" y="2926080"/>
            <a:ext cx="2874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 l'homogénéité</a:t>
            </a:r>
            <a:endParaRPr lang="en-US" sz="2400" dirty="0"/>
          </a:p>
        </p:txBody>
      </p:sp>
      <p:sp>
        <p:nvSpPr>
          <p:cNvPr id="14" name="Texte De l&amp;apos;homogénéité"/>
          <p:cNvSpPr txBox="1"/>
          <p:nvPr/>
        </p:nvSpPr>
        <p:spPr>
          <a:xfrm>
            <a:off x="4657954" y="3474720"/>
            <a:ext cx="28748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rendu qui varie d'un collaborateur à l'autre et d'une agence à l'autre</a:t>
            </a:r>
            <a:endParaRPr lang="en-US" sz="1600" dirty="0"/>
          </a:p>
        </p:txBody>
      </p:sp>
      <p:sp>
        <p:nvSpPr>
          <p:cNvPr id="15" name="Bloc Des outils adaptés"/>
          <p:cNvSpPr/>
          <p:nvPr/>
        </p:nvSpPr>
        <p:spPr>
          <a:xfrm>
            <a:off x="8127187" y="1417320"/>
            <a:ext cx="3514954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Icône Des outils adaptés – fond"/>
          <p:cNvSpPr/>
          <p:nvPr/>
        </p:nvSpPr>
        <p:spPr>
          <a:xfrm>
            <a:off x="8447227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Des outils adapté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393" y="1922526"/>
            <a:ext cx="315468" cy="315468"/>
          </a:xfrm>
          <a:prstGeom prst="rect">
            <a:avLst/>
          </a:prstGeom>
        </p:spPr>
      </p:pic>
      <p:sp>
        <p:nvSpPr>
          <p:cNvPr id="18" name="Étiquette Des outils adaptés"/>
          <p:cNvSpPr txBox="1"/>
          <p:nvPr/>
        </p:nvSpPr>
        <p:spPr>
          <a:xfrm>
            <a:off x="8447227" y="2651760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IL NOUS MANQUE</a:t>
            </a:r>
            <a:endParaRPr lang="en-US" sz="1200" dirty="0"/>
          </a:p>
        </p:txBody>
      </p:sp>
      <p:sp>
        <p:nvSpPr>
          <p:cNvPr id="19" name="Titre Des outils adaptés"/>
          <p:cNvSpPr txBox="1"/>
          <p:nvPr/>
        </p:nvSpPr>
        <p:spPr>
          <a:xfrm>
            <a:off x="8447227" y="2926080"/>
            <a:ext cx="2874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Des outils adaptés</a:t>
            </a:r>
            <a:endParaRPr lang="en-US" sz="2400" dirty="0"/>
          </a:p>
        </p:txBody>
      </p:sp>
      <p:sp>
        <p:nvSpPr>
          <p:cNvPr id="20" name="Texte Des outils adaptés"/>
          <p:cNvSpPr txBox="1"/>
          <p:nvPr/>
        </p:nvSpPr>
        <p:spPr>
          <a:xfrm>
            <a:off x="8447227" y="3474720"/>
            <a:ext cx="28748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PowerPoint, Excel, Fathom : des outils génériques, pas pensés pour nos dossiers</a:t>
            </a:r>
            <a:endParaRPr lang="en-US" sz="1600" dirty="0"/>
          </a:p>
        </p:txBody>
      </p:sp>
      <p:pic>
        <p:nvPicPr>
          <p:cNvPr id="21" name="Flèch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47488"/>
            <a:ext cx="384048" cy="384048"/>
          </a:xfrm>
          <a:prstGeom prst="rect">
            <a:avLst/>
          </a:prstGeom>
        </p:spPr>
      </p:pic>
      <p:sp>
        <p:nvSpPr>
          <p:cNvPr id="22" name="Transition"/>
          <p:cNvSpPr txBox="1"/>
          <p:nvPr/>
        </p:nvSpPr>
        <p:spPr>
          <a:xfrm>
            <a:off x="1143000" y="4846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D'où l'idée : </a:t>
            </a:r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créer des outils pensés pour nos métiers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SOLUTIONS :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TROIS OUTILS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MÉTIER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Une même logique pour les trois métiers</a:t>
            </a:r>
            <a:endParaRPr lang="en-US" sz="3000" dirty="0"/>
          </a:p>
        </p:txBody>
      </p:sp>
      <p:sp>
        <p:nvSpPr>
          <p:cNvPr id="3" name="Étape 1"/>
          <p:cNvSpPr/>
          <p:nvPr/>
        </p:nvSpPr>
        <p:spPr>
          <a:xfrm>
            <a:off x="548640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4" name="Pastille 1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itre étape 1"/>
          <p:cNvSpPr txBox="1"/>
          <p:nvPr/>
        </p:nvSpPr>
        <p:spPr>
          <a:xfrm>
            <a:off x="777240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plan du client</a:t>
            </a:r>
            <a:endParaRPr lang="en-US" sz="1800" dirty="0"/>
          </a:p>
        </p:txBody>
      </p:sp>
      <p:sp>
        <p:nvSpPr>
          <p:cNvPr id="7" name="Texte étape 1"/>
          <p:cNvSpPr txBox="1"/>
          <p:nvPr/>
        </p:nvSpPr>
        <p:spPr>
          <a:xfrm>
            <a:off x="77724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PDF ou image, chargé tel quel dans l'outil</a:t>
            </a:r>
            <a:endParaRPr lang="en-US" sz="1400" dirty="0"/>
          </a:p>
        </p:txBody>
      </p:sp>
      <p:pic>
        <p:nvPicPr>
          <p:cNvPr id="8" name="Flèche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812" y="2354580"/>
            <a:ext cx="274320" cy="274320"/>
          </a:xfrm>
          <a:prstGeom prst="rect">
            <a:avLst/>
          </a:prstGeom>
        </p:spPr>
      </p:pic>
      <p:sp>
        <p:nvSpPr>
          <p:cNvPr id="9" name="Étape 2"/>
          <p:cNvSpPr/>
          <p:nvPr/>
        </p:nvSpPr>
        <p:spPr>
          <a:xfrm>
            <a:off x="3439058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0" name="Pastille 2"/>
          <p:cNvSpPr/>
          <p:nvPr/>
        </p:nvSpPr>
        <p:spPr>
          <a:xfrm>
            <a:off x="3667658" y="1600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Numéro 2"/>
          <p:cNvSpPr txBox="1"/>
          <p:nvPr/>
        </p:nvSpPr>
        <p:spPr>
          <a:xfrm>
            <a:off x="366765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itre étape 2"/>
          <p:cNvSpPr txBox="1"/>
          <p:nvPr/>
        </p:nvSpPr>
        <p:spPr>
          <a:xfrm>
            <a:off x="3667658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mise à l'échelle</a:t>
            </a:r>
            <a:endParaRPr lang="en-US" sz="1800" dirty="0"/>
          </a:p>
        </p:txBody>
      </p:sp>
      <p:sp>
        <p:nvSpPr>
          <p:cNvPr id="13" name="Texte étape 2"/>
          <p:cNvSpPr txBox="1"/>
          <p:nvPr/>
        </p:nvSpPr>
        <p:spPr>
          <a:xfrm>
            <a:off x="3667658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Une cote connue suffit pour calibrer le plan</a:t>
            </a:r>
            <a:endParaRPr lang="en-US" sz="1400" dirty="0"/>
          </a:p>
        </p:txBody>
      </p:sp>
      <p:pic>
        <p:nvPicPr>
          <p:cNvPr id="14" name="Flèch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30" y="2354580"/>
            <a:ext cx="274320" cy="274320"/>
          </a:xfrm>
          <a:prstGeom prst="rect">
            <a:avLst/>
          </a:prstGeom>
        </p:spPr>
      </p:pic>
      <p:sp>
        <p:nvSpPr>
          <p:cNvPr id="15" name="Étape 3"/>
          <p:cNvSpPr/>
          <p:nvPr/>
        </p:nvSpPr>
        <p:spPr>
          <a:xfrm>
            <a:off x="6329477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6" name="Pastille 3"/>
          <p:cNvSpPr/>
          <p:nvPr/>
        </p:nvSpPr>
        <p:spPr>
          <a:xfrm>
            <a:off x="6558077" y="1600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558077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itre étape 3"/>
          <p:cNvSpPr txBox="1"/>
          <p:nvPr/>
        </p:nvSpPr>
        <p:spPr>
          <a:xfrm>
            <a:off x="6558077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L'implantation</a:t>
            </a:r>
            <a:endParaRPr lang="en-US" sz="1800" dirty="0"/>
          </a:p>
        </p:txBody>
      </p:sp>
      <p:sp>
        <p:nvSpPr>
          <p:cNvPr id="19" name="Texte étape 3"/>
          <p:cNvSpPr txBox="1"/>
          <p:nvPr/>
        </p:nvSpPr>
        <p:spPr>
          <a:xfrm>
            <a:off x="6558077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Règles APSAD intégrées, contrôles en direct</a:t>
            </a:r>
            <a:endParaRPr lang="en-US" sz="1400" dirty="0"/>
          </a:p>
        </p:txBody>
      </p:sp>
      <p:pic>
        <p:nvPicPr>
          <p:cNvPr id="20" name="Flèch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649" y="2354580"/>
            <a:ext cx="274320" cy="274320"/>
          </a:xfrm>
          <a:prstGeom prst="rect">
            <a:avLst/>
          </a:prstGeom>
        </p:spPr>
      </p:pic>
      <p:sp>
        <p:nvSpPr>
          <p:cNvPr id="21" name="Étape 4"/>
          <p:cNvSpPr/>
          <p:nvPr/>
        </p:nvSpPr>
        <p:spPr>
          <a:xfrm>
            <a:off x="9219895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2" name="Pastille 4"/>
          <p:cNvSpPr/>
          <p:nvPr/>
        </p:nvSpPr>
        <p:spPr>
          <a:xfrm>
            <a:off x="9448495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944849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itre étape 4"/>
          <p:cNvSpPr txBox="1"/>
          <p:nvPr/>
        </p:nvSpPr>
        <p:spPr>
          <a:xfrm>
            <a:off x="9448495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 livrables</a:t>
            </a:r>
            <a:endParaRPr lang="en-US" sz="1800" dirty="0"/>
          </a:p>
        </p:txBody>
      </p:sp>
      <p:sp>
        <p:nvSpPr>
          <p:cNvPr id="25" name="Texte étape 4"/>
          <p:cNvSpPr txBox="1"/>
          <p:nvPr/>
        </p:nvSpPr>
        <p:spPr>
          <a:xfrm>
            <a:off x="9448495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Plans, DOE, notes de calcul et dossiers générés</a:t>
            </a:r>
            <a:endParaRPr lang="en-US" sz="1400" dirty="0"/>
          </a:p>
        </p:txBody>
      </p:sp>
      <p:sp>
        <p:nvSpPr>
          <p:cNvPr id="26" name="Outil N4 Conceptor"/>
          <p:cNvSpPr/>
          <p:nvPr/>
        </p:nvSpPr>
        <p:spPr>
          <a:xfrm>
            <a:off x="548640" y="3931920"/>
            <a:ext cx="3514954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Étiquette N4 Conceptor"/>
          <p:cNvSpPr txBox="1"/>
          <p:nvPr/>
        </p:nvSpPr>
        <p:spPr>
          <a:xfrm>
            <a:off x="822960" y="4114800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N4 · EXTINCTEURS</a:t>
            </a:r>
            <a:endParaRPr lang="en-US" sz="1200" dirty="0"/>
          </a:p>
        </p:txBody>
      </p:sp>
      <p:sp>
        <p:nvSpPr>
          <p:cNvPr id="28" name="Nom N4 Conceptor"/>
          <p:cNvSpPr txBox="1"/>
          <p:nvPr/>
        </p:nvSpPr>
        <p:spPr>
          <a:xfrm>
            <a:off x="822960" y="4434840"/>
            <a:ext cx="29663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N4 Conceptor</a:t>
            </a:r>
            <a:endParaRPr lang="en-US" sz="1800" dirty="0"/>
          </a:p>
        </p:txBody>
      </p:sp>
      <p:sp>
        <p:nvSpPr>
          <p:cNvPr id="29" name="Référentiel N4 Conceptor"/>
          <p:cNvSpPr txBox="1"/>
          <p:nvPr/>
        </p:nvSpPr>
        <p:spPr>
          <a:xfrm>
            <a:off x="822960" y="516636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Référentiel APSAD R4</a:t>
            </a:r>
            <a:endParaRPr lang="en-US" sz="1600" dirty="0"/>
          </a:p>
        </p:txBody>
      </p:sp>
      <p:sp>
        <p:nvSpPr>
          <p:cNvPr id="30" name="Outil Implantation RIA Pro + HydraRIA"/>
          <p:cNvSpPr/>
          <p:nvPr/>
        </p:nvSpPr>
        <p:spPr>
          <a:xfrm>
            <a:off x="4337914" y="3931920"/>
            <a:ext cx="3514954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Étiquette Implantation RIA Pro + HydraRIA"/>
          <p:cNvSpPr txBox="1"/>
          <p:nvPr/>
        </p:nvSpPr>
        <p:spPr>
          <a:xfrm>
            <a:off x="4612234" y="4114800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N5 · RIA</a:t>
            </a:r>
            <a:endParaRPr lang="en-US" sz="1200" dirty="0"/>
          </a:p>
        </p:txBody>
      </p:sp>
      <p:sp>
        <p:nvSpPr>
          <p:cNvPr id="32" name="Nom Implantation RIA Pro + HydraRIA"/>
          <p:cNvSpPr txBox="1"/>
          <p:nvPr/>
        </p:nvSpPr>
        <p:spPr>
          <a:xfrm>
            <a:off x="4612234" y="4434840"/>
            <a:ext cx="29663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Implantation RIA Pro + HydraRIA</a:t>
            </a:r>
            <a:endParaRPr lang="en-US" sz="1800" dirty="0"/>
          </a:p>
        </p:txBody>
      </p:sp>
      <p:sp>
        <p:nvSpPr>
          <p:cNvPr id="33" name="Référentiel Implantation RIA Pro + HydraRIA"/>
          <p:cNvSpPr txBox="1"/>
          <p:nvPr/>
        </p:nvSpPr>
        <p:spPr>
          <a:xfrm>
            <a:off x="4612234" y="516636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Référentiel APSAD R5</a:t>
            </a:r>
            <a:endParaRPr lang="en-US" sz="1600" dirty="0"/>
          </a:p>
        </p:txBody>
      </p:sp>
      <p:sp>
        <p:nvSpPr>
          <p:cNvPr id="34" name="Outil DetectR7"/>
          <p:cNvSpPr/>
          <p:nvPr/>
        </p:nvSpPr>
        <p:spPr>
          <a:xfrm>
            <a:off x="8127187" y="3931920"/>
            <a:ext cx="3514954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Étiquette DetectR7"/>
          <p:cNvSpPr txBox="1"/>
          <p:nvPr/>
        </p:nvSpPr>
        <p:spPr>
          <a:xfrm>
            <a:off x="8401507" y="4114800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N7 · DÉTECTION</a:t>
            </a:r>
            <a:endParaRPr lang="en-US" sz="1200" dirty="0"/>
          </a:p>
        </p:txBody>
      </p:sp>
      <p:sp>
        <p:nvSpPr>
          <p:cNvPr id="36" name="Nom DetectR7"/>
          <p:cNvSpPr txBox="1"/>
          <p:nvPr/>
        </p:nvSpPr>
        <p:spPr>
          <a:xfrm>
            <a:off x="8401507" y="4434840"/>
            <a:ext cx="29663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DetectR7</a:t>
            </a:r>
            <a:endParaRPr lang="en-US" sz="1800" dirty="0"/>
          </a:p>
        </p:txBody>
      </p:sp>
      <p:sp>
        <p:nvSpPr>
          <p:cNvPr id="37" name="Référentiel DetectR7"/>
          <p:cNvSpPr txBox="1"/>
          <p:nvPr/>
        </p:nvSpPr>
        <p:spPr>
          <a:xfrm>
            <a:off x="8401507" y="516636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Référentiel APSAD R7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L'APPORT POUR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EUROFEU &amp;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 PROPOSITION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qu'Eurofeu y gagne</a:t>
            </a:r>
            <a:endParaRPr lang="en-US" sz="3000" dirty="0"/>
          </a:p>
        </p:txBody>
      </p:sp>
      <p:sp>
        <p:nvSpPr>
          <p:cNvPr id="3" name="Carte Une longueur d'avance"/>
          <p:cNvSpPr/>
          <p:nvPr/>
        </p:nvSpPr>
        <p:spPr>
          <a:xfrm>
            <a:off x="548640" y="1371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4" name="Icône Une longueur d'avance – fond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Une longueur d'ava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818742"/>
            <a:ext cx="294437" cy="294437"/>
          </a:xfrm>
          <a:prstGeom prst="rect">
            <a:avLst/>
          </a:prstGeom>
        </p:spPr>
      </p:pic>
      <p:sp>
        <p:nvSpPr>
          <p:cNvPr id="6" name="Titre Une longueur d&amp;apos;avance"/>
          <p:cNvSpPr txBox="1"/>
          <p:nvPr/>
        </p:nvSpPr>
        <p:spPr>
          <a:xfrm>
            <a:off x="1645920" y="1645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longueur d'avance</a:t>
            </a:r>
            <a:endParaRPr lang="en-US" sz="1800" dirty="0"/>
          </a:p>
        </p:txBody>
      </p:sp>
      <p:sp>
        <p:nvSpPr>
          <p:cNvPr id="7" name="Texte Une longueur d&amp;apos;avance"/>
          <p:cNvSpPr txBox="1"/>
          <p:nvPr/>
        </p:nvSpPr>
        <p:spPr>
          <a:xfrm>
            <a:off x="822960" y="2423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Des études outillées, là où beaucoup travaillent encore à la main</a:t>
            </a:r>
            <a:endParaRPr lang="en-US" sz="1600" dirty="0"/>
          </a:p>
        </p:txBody>
      </p:sp>
      <p:sp>
        <p:nvSpPr>
          <p:cNvPr id="8" name="Carte Des dossiers homogènes"/>
          <p:cNvSpPr/>
          <p:nvPr/>
        </p:nvSpPr>
        <p:spPr>
          <a:xfrm>
            <a:off x="4337914" y="1371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9" name="Icône Des dossiers homogènes – fond"/>
          <p:cNvSpPr/>
          <p:nvPr/>
        </p:nvSpPr>
        <p:spPr>
          <a:xfrm>
            <a:off x="4612234" y="1645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cône Des dossiers homogèn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818742"/>
            <a:ext cx="294437" cy="294437"/>
          </a:xfrm>
          <a:prstGeom prst="rect">
            <a:avLst/>
          </a:prstGeom>
        </p:spPr>
      </p:pic>
      <p:sp>
        <p:nvSpPr>
          <p:cNvPr id="11" name="Titre Des dossiers homogènes"/>
          <p:cNvSpPr txBox="1"/>
          <p:nvPr/>
        </p:nvSpPr>
        <p:spPr>
          <a:xfrm>
            <a:off x="5435194" y="1645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dossiers homogènes</a:t>
            </a:r>
            <a:endParaRPr lang="en-US" sz="1800" dirty="0"/>
          </a:p>
        </p:txBody>
      </p:sp>
      <p:sp>
        <p:nvSpPr>
          <p:cNvPr id="12" name="Texte Des dossiers homogènes"/>
          <p:cNvSpPr txBox="1"/>
          <p:nvPr/>
        </p:nvSpPr>
        <p:spPr>
          <a:xfrm>
            <a:off x="4612234" y="2423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 même niveau de rendu dans toutes les agences, quel que soit le collaborateur</a:t>
            </a:r>
            <a:endParaRPr lang="en-US" sz="1600" dirty="0"/>
          </a:p>
        </p:txBody>
      </p:sp>
      <p:sp>
        <p:nvSpPr>
          <p:cNvPr id="13" name="Carte Du temps gagné"/>
          <p:cNvSpPr/>
          <p:nvPr/>
        </p:nvSpPr>
        <p:spPr>
          <a:xfrm>
            <a:off x="8127187" y="1371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4" name="Icône Du temps gagné – fond"/>
          <p:cNvSpPr/>
          <p:nvPr/>
        </p:nvSpPr>
        <p:spPr>
          <a:xfrm>
            <a:off x="8401507" y="1645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ône Du temps gagné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329" y="1818742"/>
            <a:ext cx="294437" cy="294437"/>
          </a:xfrm>
          <a:prstGeom prst="rect">
            <a:avLst/>
          </a:prstGeom>
        </p:spPr>
      </p:pic>
      <p:sp>
        <p:nvSpPr>
          <p:cNvPr id="16" name="Titre Du temps gagné"/>
          <p:cNvSpPr txBox="1"/>
          <p:nvPr/>
        </p:nvSpPr>
        <p:spPr>
          <a:xfrm>
            <a:off x="9224467" y="1645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 temps gagné</a:t>
            </a:r>
            <a:endParaRPr lang="en-US" sz="1800" dirty="0"/>
          </a:p>
        </p:txBody>
      </p:sp>
      <p:sp>
        <p:nvSpPr>
          <p:cNvPr id="17" name="Texte Du temps gagné"/>
          <p:cNvSpPr txBox="1"/>
          <p:nvPr/>
        </p:nvSpPr>
        <p:spPr>
          <a:xfrm>
            <a:off x="8401507" y="2423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Moins de ressaisie pour les commerciaux, chargés d'affaires, techniciens et chefs d'agence</a:t>
            </a:r>
            <a:endParaRPr lang="en-US" sz="1600" dirty="0"/>
          </a:p>
        </p:txBody>
      </p:sp>
      <p:sp>
        <p:nvSpPr>
          <p:cNvPr id="18" name="Carte Des dossiers plus professionnels"/>
          <p:cNvSpPr/>
          <p:nvPr/>
        </p:nvSpPr>
        <p:spPr>
          <a:xfrm>
            <a:off x="548640" y="3657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9" name="Icône Des dossiers plus professionnels – fond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Icône Des dossiers plus professionnel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2" y="4104742"/>
            <a:ext cx="294437" cy="294437"/>
          </a:xfrm>
          <a:prstGeom prst="rect">
            <a:avLst/>
          </a:prstGeom>
        </p:spPr>
      </p:pic>
      <p:sp>
        <p:nvSpPr>
          <p:cNvPr id="21" name="Titre Des dossiers plus professionnels"/>
          <p:cNvSpPr txBox="1"/>
          <p:nvPr/>
        </p:nvSpPr>
        <p:spPr>
          <a:xfrm>
            <a:off x="1645920" y="3931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dossiers plus professionnels</a:t>
            </a:r>
            <a:endParaRPr lang="en-US" sz="1800" dirty="0"/>
          </a:p>
        </p:txBody>
      </p:sp>
      <p:sp>
        <p:nvSpPr>
          <p:cNvPr id="22" name="Texte Des dossiers plus professionnels"/>
          <p:cNvSpPr txBox="1"/>
          <p:nvPr/>
        </p:nvSpPr>
        <p:spPr>
          <a:xfrm>
            <a:off x="822960" y="4709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Plans, DOE et notes de calcul soignés : une meilleure image auprès des clients</a:t>
            </a:r>
            <a:endParaRPr lang="en-US" sz="1600" dirty="0"/>
          </a:p>
        </p:txBody>
      </p:sp>
      <p:sp>
        <p:nvSpPr>
          <p:cNvPr id="23" name="Carte Des économies"/>
          <p:cNvSpPr/>
          <p:nvPr/>
        </p:nvSpPr>
        <p:spPr>
          <a:xfrm>
            <a:off x="4337914" y="3657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4" name="Icône Des économies – fond"/>
          <p:cNvSpPr/>
          <p:nvPr/>
        </p:nvSpPr>
        <p:spPr>
          <a:xfrm>
            <a:off x="4612234" y="3931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cône Des économie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055" y="4104742"/>
            <a:ext cx="294437" cy="294437"/>
          </a:xfrm>
          <a:prstGeom prst="rect">
            <a:avLst/>
          </a:prstGeom>
        </p:spPr>
      </p:pic>
      <p:sp>
        <p:nvSpPr>
          <p:cNvPr id="26" name="Titre Des économies"/>
          <p:cNvSpPr txBox="1"/>
          <p:nvPr/>
        </p:nvSpPr>
        <p:spPr>
          <a:xfrm>
            <a:off x="5435194" y="3931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économies</a:t>
            </a:r>
            <a:endParaRPr lang="en-US" sz="1800" dirty="0"/>
          </a:p>
        </p:txBody>
      </p:sp>
      <p:sp>
        <p:nvSpPr>
          <p:cNvPr id="27" name="Texte Des économies"/>
          <p:cNvSpPr txBox="1"/>
          <p:nvPr/>
        </p:nvSpPr>
        <p:spPr>
          <a:xfrm>
            <a:off x="4612234" y="4709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Plus besoin de la licence Fathom (4 000 € par an) pour les notes de calcul RIA</a:t>
            </a:r>
            <a:endParaRPr lang="en-US" sz="1600" dirty="0"/>
          </a:p>
        </p:txBody>
      </p:sp>
      <p:sp>
        <p:nvSpPr>
          <p:cNvPr id="28" name="Carte Une conformité mieux maîtrisée"/>
          <p:cNvSpPr/>
          <p:nvPr/>
        </p:nvSpPr>
        <p:spPr>
          <a:xfrm>
            <a:off x="8127187" y="3657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9" name="Icône Une conformité mieux maîtrisée – fond"/>
          <p:cNvSpPr/>
          <p:nvPr/>
        </p:nvSpPr>
        <p:spPr>
          <a:xfrm>
            <a:off x="8401507" y="3931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0" name="Icône Une conformité mieux maîtrisé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329" y="4104742"/>
            <a:ext cx="294437" cy="294437"/>
          </a:xfrm>
          <a:prstGeom prst="rect">
            <a:avLst/>
          </a:prstGeom>
        </p:spPr>
      </p:pic>
      <p:sp>
        <p:nvSpPr>
          <p:cNvPr id="31" name="Titre Une conformité mieux maîtrisée"/>
          <p:cNvSpPr txBox="1"/>
          <p:nvPr/>
        </p:nvSpPr>
        <p:spPr>
          <a:xfrm>
            <a:off x="9224467" y="3931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conformité mieux maîtrisée</a:t>
            </a:r>
            <a:endParaRPr lang="en-US" sz="1800" dirty="0"/>
          </a:p>
        </p:txBody>
      </p:sp>
      <p:sp>
        <p:nvSpPr>
          <p:cNvPr id="32" name="Texte Une conformité mieux maîtrisée"/>
          <p:cNvSpPr txBox="1"/>
          <p:nvPr/>
        </p:nvSpPr>
        <p:spPr>
          <a:xfrm>
            <a:off x="8401507" y="4709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Règles APSAD R4, R5 et R7 intégrées, avec contrôles automatiques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que représentent ces modules</a:t>
            </a:r>
            <a:endParaRPr lang="en-US" sz="3000" dirty="0"/>
          </a:p>
        </p:txBody>
      </p:sp>
      <p:sp>
        <p:nvSpPr>
          <p:cNvPr id="3" name="Chiffre clé – fond"/>
          <p:cNvSpPr/>
          <p:nvPr/>
        </p:nvSpPr>
        <p:spPr>
          <a:xfrm>
            <a:off x="548640" y="1371600"/>
            <a:ext cx="4297680" cy="4434840"/>
          </a:xfrm>
          <a:prstGeom prst="roundRect">
            <a:avLst>
              <a:gd name="adj" fmla="val 17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ffre clé – étiquette"/>
          <p:cNvSpPr txBox="1"/>
          <p:nvPr/>
        </p:nvSpPr>
        <p:spPr>
          <a:xfrm>
            <a:off x="8686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COÛT GLOBAL ESTIMÉ</a:t>
            </a:r>
            <a:endParaRPr lang="en-US" sz="1200" dirty="0"/>
          </a:p>
        </p:txBody>
      </p:sp>
      <p:sp>
        <p:nvSpPr>
          <p:cNvPr id="5" name="Chiffre clé – valeur"/>
          <p:cNvSpPr txBox="1"/>
          <p:nvPr/>
        </p:nvSpPr>
        <p:spPr>
          <a:xfrm>
            <a:off x="868680" y="2834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≈ 100 000 €</a:t>
            </a:r>
            <a:endParaRPr lang="en-US" sz="4800" dirty="0"/>
          </a:p>
        </p:txBody>
      </p:sp>
      <p:sp>
        <p:nvSpPr>
          <p:cNvPr id="6" name="Chiffre clé – légende"/>
          <p:cNvSpPr txBox="1"/>
          <p:nvPr/>
        </p:nvSpPr>
        <p:spPr>
          <a:xfrm>
            <a:off x="86868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C'est ce que représentent de tels modules métier</a:t>
            </a:r>
            <a:endParaRPr lang="en-US" sz="1800" dirty="0"/>
          </a:p>
        </p:txBody>
      </p:sp>
      <p:sp>
        <p:nvSpPr>
          <p:cNvPr id="7" name="Ligne Trois modules métier complets"/>
          <p:cNvSpPr/>
          <p:nvPr/>
        </p:nvSpPr>
        <p:spPr>
          <a:xfrm>
            <a:off x="5166360" y="1371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8" name="Icône Trois modules métier complets – fond"/>
          <p:cNvSpPr/>
          <p:nvPr/>
        </p:nvSpPr>
        <p:spPr>
          <a:xfrm>
            <a:off x="5394960" y="1554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ône Trois modules métier complet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5437" y="1714957"/>
            <a:ext cx="273406" cy="273406"/>
          </a:xfrm>
          <a:prstGeom prst="rect">
            <a:avLst/>
          </a:prstGeom>
        </p:spPr>
      </p:pic>
      <p:sp>
        <p:nvSpPr>
          <p:cNvPr id="10" name="Texte Trois modules métier complets"/>
          <p:cNvSpPr txBox="1"/>
          <p:nvPr/>
        </p:nvSpPr>
        <p:spPr>
          <a:xfrm>
            <a:off x="6263640" y="1371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Trois modules métier complets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N4 extincteurs, N5 RIA et N7 détection</a:t>
            </a:r>
            <a:endParaRPr lang="en-US" sz="1600" dirty="0"/>
          </a:p>
        </p:txBody>
      </p:sp>
      <p:sp>
        <p:nvSpPr>
          <p:cNvPr id="11" name="Ligne Des moteurs de calcul intégrés"/>
          <p:cNvSpPr/>
          <p:nvPr/>
        </p:nvSpPr>
        <p:spPr>
          <a:xfrm>
            <a:off x="5166360" y="2514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2" name="Icône Des moteurs de calcul intégrés – fond"/>
          <p:cNvSpPr/>
          <p:nvPr/>
        </p:nvSpPr>
        <p:spPr>
          <a:xfrm>
            <a:off x="5394960" y="2697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ône Des moteurs de calcul intégré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437" y="2857957"/>
            <a:ext cx="273406" cy="273406"/>
          </a:xfrm>
          <a:prstGeom prst="rect">
            <a:avLst/>
          </a:prstGeom>
        </p:spPr>
      </p:pic>
      <p:sp>
        <p:nvSpPr>
          <p:cNvPr id="14" name="Texte Des moteurs de calcul intégrés"/>
          <p:cNvSpPr txBox="1"/>
          <p:nvPr/>
        </p:nvSpPr>
        <p:spPr>
          <a:xfrm>
            <a:off x="6263640" y="2514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moteurs de calcul intégrés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Dotation R4, hydraulique RIA, règles R7</a:t>
            </a:r>
            <a:endParaRPr lang="en-US" sz="1600" dirty="0"/>
          </a:p>
        </p:txBody>
      </p:sp>
      <p:sp>
        <p:nvSpPr>
          <p:cNvPr id="15" name="Ligne Tous les livrables"/>
          <p:cNvSpPr/>
          <p:nvPr/>
        </p:nvSpPr>
        <p:spPr>
          <a:xfrm>
            <a:off x="5166360" y="3657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6" name="Icône Tous les livrables – fond"/>
          <p:cNvSpPr/>
          <p:nvPr/>
        </p:nvSpPr>
        <p:spPr>
          <a:xfrm>
            <a:off x="5394960" y="3840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cône Tous les livrabl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437" y="4000957"/>
            <a:ext cx="273406" cy="273406"/>
          </a:xfrm>
          <a:prstGeom prst="rect">
            <a:avLst/>
          </a:prstGeom>
        </p:spPr>
      </p:pic>
      <p:sp>
        <p:nvSpPr>
          <p:cNvPr id="18" name="Texte Tous les livrables"/>
          <p:cNvSpPr txBox="1"/>
          <p:nvPr/>
        </p:nvSpPr>
        <p:spPr>
          <a:xfrm>
            <a:off x="6263640" y="3657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Tous les livrables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Plans, DOE, notes de calcul, dossiers et devis</a:t>
            </a:r>
            <a:endParaRPr lang="en-US" sz="1600" dirty="0"/>
          </a:p>
        </p:txBody>
      </p:sp>
      <p:sp>
        <p:nvSpPr>
          <p:cNvPr id="19" name="Ligne Le temps passé"/>
          <p:cNvSpPr/>
          <p:nvPr/>
        </p:nvSpPr>
        <p:spPr>
          <a:xfrm>
            <a:off x="5166360" y="4800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0" name="Icône Le temps passé – fond"/>
          <p:cNvSpPr/>
          <p:nvPr/>
        </p:nvSpPr>
        <p:spPr>
          <a:xfrm>
            <a:off x="5394960" y="4983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cône Le temps passé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437" y="5143957"/>
            <a:ext cx="273406" cy="273406"/>
          </a:xfrm>
          <a:prstGeom prst="rect">
            <a:avLst/>
          </a:prstGeom>
        </p:spPr>
      </p:pic>
      <p:sp>
        <p:nvSpPr>
          <p:cNvPr id="22" name="Texte Le temps passé"/>
          <p:cNvSpPr txBox="1"/>
          <p:nvPr/>
        </p:nvSpPr>
        <p:spPr>
          <a:xfrm>
            <a:off x="6263640" y="4800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temps passé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Conception, développement et mise au point, sur mon temps personnel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Option 1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 –  L'achat de licences</a:t>
            </a:r>
            <a:endParaRPr lang="en-US" sz="3000" dirty="0"/>
          </a:p>
        </p:txBody>
      </p:sp>
      <p:sp>
        <p:nvSpPr>
          <p:cNvPr id="3" name="Principe – fond"/>
          <p:cNvSpPr/>
          <p:nvPr/>
        </p:nvSpPr>
        <p:spPr>
          <a:xfrm>
            <a:off x="548640" y="1371600"/>
            <a:ext cx="393192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rincipe – étiquette"/>
          <p:cNvSpPr txBox="1"/>
          <p:nvPr/>
        </p:nvSpPr>
        <p:spPr>
          <a:xfrm>
            <a:off x="86868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LE PRINCIPE</a:t>
            </a:r>
            <a:endParaRPr lang="en-US" sz="1200" dirty="0"/>
          </a:p>
        </p:txBody>
      </p:sp>
      <p:sp>
        <p:nvSpPr>
          <p:cNvPr id="5" name="Principe – texte"/>
          <p:cNvSpPr txBox="1"/>
          <p:nvPr/>
        </p:nvSpPr>
        <p:spPr>
          <a:xfrm>
            <a:off x="868680" y="20116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Eurofeu achète les outils auprès de mon beau-frère, qui les commercialise aujourd'hui</a:t>
            </a:r>
            <a:endParaRPr lang="en-US" sz="2000" dirty="0"/>
          </a:p>
        </p:txBody>
      </p:sp>
      <p:sp>
        <p:nvSpPr>
          <p:cNvPr id="6" name="Montant – étiquette"/>
          <p:cNvSpPr txBox="1"/>
          <p:nvPr/>
        </p:nvSpPr>
        <p:spPr>
          <a:xfrm>
            <a:off x="8686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ORDRE DE GRANDEUR</a:t>
            </a:r>
            <a:endParaRPr lang="en-US" sz="1200" dirty="0"/>
          </a:p>
        </p:txBody>
      </p:sp>
      <p:sp>
        <p:nvSpPr>
          <p:cNvPr id="7" name="Montant"/>
          <p:cNvSpPr txBox="1"/>
          <p:nvPr/>
        </p:nvSpPr>
        <p:spPr>
          <a:xfrm>
            <a:off x="868680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≈ 100 000 €</a:t>
            </a:r>
            <a:endParaRPr lang="en-US" sz="4000" dirty="0"/>
          </a:p>
        </p:txBody>
      </p:sp>
      <p:sp>
        <p:nvSpPr>
          <p:cNvPr id="8" name="En-tête tarif"/>
          <p:cNvSpPr txBox="1"/>
          <p:nvPr/>
        </p:nvSpPr>
        <p:spPr>
          <a:xfrm>
            <a:off x="4800600" y="1371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 TARIF DÉPEND DE</a:t>
            </a:r>
            <a:endParaRPr lang="en-US" sz="1200" dirty="0"/>
          </a:p>
        </p:txBody>
      </p:sp>
      <p:sp>
        <p:nvSpPr>
          <p:cNvPr id="9" name="Carte Le nombre de licences"/>
          <p:cNvSpPr/>
          <p:nvPr/>
        </p:nvSpPr>
        <p:spPr>
          <a:xfrm>
            <a:off x="4800600" y="173736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0" name="Icône Le nombre de licences – fond"/>
          <p:cNvSpPr/>
          <p:nvPr/>
        </p:nvSpPr>
        <p:spPr>
          <a:xfrm>
            <a:off x="5029200" y="193852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cône Le nombre de licenc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7333" y="2086661"/>
            <a:ext cx="252374" cy="252374"/>
          </a:xfrm>
          <a:prstGeom prst="rect">
            <a:avLst/>
          </a:prstGeom>
        </p:spPr>
      </p:pic>
      <p:sp>
        <p:nvSpPr>
          <p:cNvPr id="12" name="Titre Le nombre de licences"/>
          <p:cNvSpPr txBox="1"/>
          <p:nvPr/>
        </p:nvSpPr>
        <p:spPr>
          <a:xfrm>
            <a:off x="5715000" y="193852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nombre de licences</a:t>
            </a:r>
            <a:endParaRPr lang="en-US" sz="1800" dirty="0"/>
          </a:p>
        </p:txBody>
      </p:sp>
      <p:sp>
        <p:nvSpPr>
          <p:cNvPr id="13" name="Texte Le nombre de licences"/>
          <p:cNvSpPr txBox="1"/>
          <p:nvPr/>
        </p:nvSpPr>
        <p:spPr>
          <a:xfrm>
            <a:off x="5029200" y="257860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 agence ou par utilisateur, selon le déploiement</a:t>
            </a:r>
            <a:endParaRPr lang="en-US" sz="1500" dirty="0"/>
          </a:p>
        </p:txBody>
      </p:sp>
      <p:sp>
        <p:nvSpPr>
          <p:cNvPr id="14" name="Carte L'exclusivité ou non"/>
          <p:cNvSpPr/>
          <p:nvPr/>
        </p:nvSpPr>
        <p:spPr>
          <a:xfrm>
            <a:off x="8336128" y="173736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5" name="Icône L'exclusivité ou non – fond"/>
          <p:cNvSpPr/>
          <p:nvPr/>
        </p:nvSpPr>
        <p:spPr>
          <a:xfrm>
            <a:off x="8564728" y="193852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Icône L'exclusivité ou n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860" y="2086661"/>
            <a:ext cx="252374" cy="252374"/>
          </a:xfrm>
          <a:prstGeom prst="rect">
            <a:avLst/>
          </a:prstGeom>
        </p:spPr>
      </p:pic>
      <p:sp>
        <p:nvSpPr>
          <p:cNvPr id="17" name="Titre L&amp;apos;exclusivité ou non"/>
          <p:cNvSpPr txBox="1"/>
          <p:nvPr/>
        </p:nvSpPr>
        <p:spPr>
          <a:xfrm>
            <a:off x="9250528" y="193852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L'exclusivité ou non</a:t>
            </a:r>
            <a:endParaRPr lang="en-US" sz="1800" dirty="0"/>
          </a:p>
        </p:txBody>
      </p:sp>
      <p:sp>
        <p:nvSpPr>
          <p:cNvPr id="18" name="Texte L&amp;apos;exclusivité ou non"/>
          <p:cNvSpPr txBox="1"/>
          <p:nvPr/>
        </p:nvSpPr>
        <p:spPr>
          <a:xfrm>
            <a:off x="8564728" y="257860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Outils réservés à Eurofeu, ou vendus aussi à d'autres</a:t>
            </a:r>
            <a:endParaRPr lang="en-US" sz="1500" dirty="0"/>
          </a:p>
        </p:txBody>
      </p:sp>
      <p:sp>
        <p:nvSpPr>
          <p:cNvPr id="19" name="Carte Les modules retenus"/>
          <p:cNvSpPr/>
          <p:nvPr/>
        </p:nvSpPr>
        <p:spPr>
          <a:xfrm>
            <a:off x="4800600" y="342900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0" name="Icône Les modules retenus – fond"/>
          <p:cNvSpPr/>
          <p:nvPr/>
        </p:nvSpPr>
        <p:spPr>
          <a:xfrm>
            <a:off x="5029200" y="363016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cône Les modules retenu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333" y="3778301"/>
            <a:ext cx="252374" cy="252374"/>
          </a:xfrm>
          <a:prstGeom prst="rect">
            <a:avLst/>
          </a:prstGeom>
        </p:spPr>
      </p:pic>
      <p:sp>
        <p:nvSpPr>
          <p:cNvPr id="22" name="Titre Les modules retenus"/>
          <p:cNvSpPr txBox="1"/>
          <p:nvPr/>
        </p:nvSpPr>
        <p:spPr>
          <a:xfrm>
            <a:off x="5715000" y="363016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 modules retenus</a:t>
            </a:r>
            <a:endParaRPr lang="en-US" sz="1800" dirty="0"/>
          </a:p>
        </p:txBody>
      </p:sp>
      <p:sp>
        <p:nvSpPr>
          <p:cNvPr id="23" name="Texte Les modules retenus"/>
          <p:cNvSpPr txBox="1"/>
          <p:nvPr/>
        </p:nvSpPr>
        <p:spPr>
          <a:xfrm>
            <a:off x="5029200" y="427024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N4, N5 et N7, séparément ou en pack complet</a:t>
            </a:r>
            <a:endParaRPr lang="en-US" sz="1500" dirty="0"/>
          </a:p>
        </p:txBody>
      </p:sp>
      <p:sp>
        <p:nvSpPr>
          <p:cNvPr id="24" name="Carte Les services associés"/>
          <p:cNvSpPr/>
          <p:nvPr/>
        </p:nvSpPr>
        <p:spPr>
          <a:xfrm>
            <a:off x="8336128" y="342900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5" name="Icône Les services associés – fond"/>
          <p:cNvSpPr/>
          <p:nvPr/>
        </p:nvSpPr>
        <p:spPr>
          <a:xfrm>
            <a:off x="8564728" y="363016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cône Les services associé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860" y="3778301"/>
            <a:ext cx="252374" cy="252374"/>
          </a:xfrm>
          <a:prstGeom prst="rect">
            <a:avLst/>
          </a:prstGeom>
        </p:spPr>
      </p:pic>
      <p:sp>
        <p:nvSpPr>
          <p:cNvPr id="27" name="Titre Les services associés"/>
          <p:cNvSpPr txBox="1"/>
          <p:nvPr/>
        </p:nvSpPr>
        <p:spPr>
          <a:xfrm>
            <a:off x="9250528" y="363016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 services associés</a:t>
            </a:r>
            <a:endParaRPr lang="en-US" sz="1800" dirty="0"/>
          </a:p>
        </p:txBody>
      </p:sp>
      <p:sp>
        <p:nvSpPr>
          <p:cNvPr id="28" name="Texte Les services associés"/>
          <p:cNvSpPr txBox="1"/>
          <p:nvPr/>
        </p:nvSpPr>
        <p:spPr>
          <a:xfrm>
            <a:off x="8564728" y="427024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Mises à jour, personnalisation Eurofeu, formation</a:t>
            </a:r>
            <a:endParaRPr lang="en-US" sz="1500" dirty="0"/>
          </a:p>
        </p:txBody>
      </p:sp>
      <p:sp>
        <p:nvSpPr>
          <p:cNvPr id="29" name="Bandeau"/>
          <p:cNvSpPr/>
          <p:nvPr/>
        </p:nvSpPr>
        <p:spPr>
          <a:xfrm>
            <a:off x="548640" y="512064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Bandeau – texte"/>
          <p:cNvSpPr txBox="1"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Une relation client-fournisseur classique, avec un budget à engager dès le départ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Option 2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 –  Ma proposition : nous arranger autrement</a:t>
            </a:r>
            <a:endParaRPr lang="en-US" sz="3000" dirty="0"/>
          </a:p>
        </p:txBody>
      </p:sp>
      <p:sp>
        <p:nvSpPr>
          <p:cNvPr id="3" name="En-tête proposition"/>
          <p:cNvSpPr txBox="1"/>
          <p:nvPr/>
        </p:nvSpPr>
        <p:spPr>
          <a:xfrm>
            <a:off x="548640" y="1371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 QUE JE PROPOSE</a:t>
            </a:r>
            <a:endParaRPr lang="en-US" sz="1200" dirty="0"/>
          </a:p>
        </p:txBody>
      </p:sp>
      <p:sp>
        <p:nvSpPr>
          <p:cNvPr id="4" name="Carte Une prime exceptionnelle"/>
          <p:cNvSpPr/>
          <p:nvPr/>
        </p:nvSpPr>
        <p:spPr>
          <a:xfrm>
            <a:off x="548640" y="173736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5" name="Icône Une prime exceptionnelle – fond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Une prime exceptionnel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093062"/>
            <a:ext cx="294437" cy="294437"/>
          </a:xfrm>
          <a:prstGeom prst="rect">
            <a:avLst/>
          </a:prstGeom>
        </p:spPr>
      </p:pic>
      <p:sp>
        <p:nvSpPr>
          <p:cNvPr id="7" name="Texte Une prime exceptionnelle"/>
          <p:cNvSpPr txBox="1"/>
          <p:nvPr/>
        </p:nvSpPr>
        <p:spPr>
          <a:xfrm>
            <a:off x="1645920" y="17373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prime exceptionnelle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Pour le travail déjà réalisé sur mon temps personnel</a:t>
            </a:r>
            <a:endParaRPr lang="en-US" sz="1500" dirty="0"/>
          </a:p>
        </p:txBody>
      </p:sp>
      <p:sp>
        <p:nvSpPr>
          <p:cNvPr id="8" name="Carte Une augmentation en conséquence"/>
          <p:cNvSpPr/>
          <p:nvPr/>
        </p:nvSpPr>
        <p:spPr>
          <a:xfrm>
            <a:off x="548640" y="288036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9" name="Icône Une augmentation en conséquence – fond"/>
          <p:cNvSpPr/>
          <p:nvPr/>
        </p:nvSpPr>
        <p:spPr>
          <a:xfrm>
            <a:off x="777240" y="3063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Une augmentation en conséquenc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2" y="3236062"/>
            <a:ext cx="294437" cy="294437"/>
          </a:xfrm>
          <a:prstGeom prst="rect">
            <a:avLst/>
          </a:prstGeom>
        </p:spPr>
      </p:pic>
      <p:sp>
        <p:nvSpPr>
          <p:cNvPr id="11" name="Texte Une augmentation en conséquence"/>
          <p:cNvSpPr txBox="1"/>
          <p:nvPr/>
        </p:nvSpPr>
        <p:spPr>
          <a:xfrm>
            <a:off x="1645920" y="28803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augmentation en conséquence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À la hauteur de la valeur apportée à Eurofeu</a:t>
            </a:r>
            <a:endParaRPr lang="en-US" sz="1500" dirty="0"/>
          </a:p>
        </p:txBody>
      </p:sp>
      <p:sp>
        <p:nvSpPr>
          <p:cNvPr id="12" name="Carte Une évolution de poste"/>
          <p:cNvSpPr/>
          <p:nvPr/>
        </p:nvSpPr>
        <p:spPr>
          <a:xfrm>
            <a:off x="548640" y="402336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3" name="Icône Une évolution de poste – fond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ône Une évolution de pos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4379062"/>
            <a:ext cx="294437" cy="294437"/>
          </a:xfrm>
          <a:prstGeom prst="rect">
            <a:avLst/>
          </a:prstGeom>
        </p:spPr>
      </p:pic>
      <p:sp>
        <p:nvSpPr>
          <p:cNvPr id="15" name="Texte Une évolution de poste"/>
          <p:cNvSpPr txBox="1"/>
          <p:nvPr/>
        </p:nvSpPr>
        <p:spPr>
          <a:xfrm>
            <a:off x="1645920" y="40233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évolution de poste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Du temps dédié au développement des outils</a:t>
            </a:r>
            <a:endParaRPr lang="en-US" sz="1500" dirty="0"/>
          </a:p>
        </p:txBody>
      </p:sp>
      <p:sp>
        <p:nvSpPr>
          <p:cNvPr id="16" name="En-tête bénéfices"/>
          <p:cNvSpPr txBox="1"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CE QU'EUROFEU Y GAGNE</a:t>
            </a:r>
            <a:endParaRPr lang="en-US" sz="1200" dirty="0"/>
          </a:p>
        </p:txBody>
      </p:sp>
      <p:sp>
        <p:nvSpPr>
          <p:cNvPr id="17" name="Bénéfices – fond"/>
          <p:cNvSpPr/>
          <p:nvPr/>
        </p:nvSpPr>
        <p:spPr>
          <a:xfrm>
            <a:off x="6400800" y="1737360"/>
            <a:ext cx="5242255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Coche 1 – fond"/>
          <p:cNvSpPr/>
          <p:nvPr/>
        </p:nvSpPr>
        <p:spPr>
          <a:xfrm>
            <a:off x="6675120" y="21031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och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2201875"/>
            <a:ext cx="168250" cy="168250"/>
          </a:xfrm>
          <a:prstGeom prst="rect">
            <a:avLst/>
          </a:prstGeom>
        </p:spPr>
      </p:pic>
      <p:sp>
        <p:nvSpPr>
          <p:cNvPr id="20" name="Bénéfice 1"/>
          <p:cNvSpPr txBox="1"/>
          <p:nvPr/>
        </p:nvSpPr>
        <p:spPr>
          <a:xfrm>
            <a:off x="7269480" y="19202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Les outils N4, N5 et N7 à disposition des équipes</a:t>
            </a:r>
            <a:endParaRPr lang="en-US" sz="1600" dirty="0"/>
          </a:p>
        </p:txBody>
      </p:sp>
      <p:sp>
        <p:nvSpPr>
          <p:cNvPr id="21" name="Coche 2 – fond"/>
          <p:cNvSpPr/>
          <p:nvPr/>
        </p:nvSpPr>
        <p:spPr>
          <a:xfrm>
            <a:off x="6675120" y="28346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Coch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875" y="2933395"/>
            <a:ext cx="168250" cy="168250"/>
          </a:xfrm>
          <a:prstGeom prst="rect">
            <a:avLst/>
          </a:prstGeom>
        </p:spPr>
      </p:pic>
      <p:sp>
        <p:nvSpPr>
          <p:cNvPr id="23" name="Bénéfice 2"/>
          <p:cNvSpPr txBox="1"/>
          <p:nvPr/>
        </p:nvSpPr>
        <p:spPr>
          <a:xfrm>
            <a:off x="7269480" y="26517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Les outils actuels adaptés à Eurofeu, avec sa tarification intégrée</a:t>
            </a:r>
            <a:endParaRPr lang="en-US" sz="1600" dirty="0"/>
          </a:p>
        </p:txBody>
      </p:sp>
      <p:sp>
        <p:nvSpPr>
          <p:cNvPr id="24" name="Coche 3 – fond"/>
          <p:cNvSpPr/>
          <p:nvPr/>
        </p:nvSpPr>
        <p:spPr>
          <a:xfrm>
            <a:off x="6675120" y="3566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Coch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875" y="3664915"/>
            <a:ext cx="168250" cy="168250"/>
          </a:xfrm>
          <a:prstGeom prst="rect">
            <a:avLst/>
          </a:prstGeom>
        </p:spPr>
      </p:pic>
      <p:sp>
        <p:nvSpPr>
          <p:cNvPr id="26" name="Bénéfice 3"/>
          <p:cNvSpPr txBox="1"/>
          <p:nvPr/>
        </p:nvSpPr>
        <p:spPr>
          <a:xfrm>
            <a:off x="7269480" y="33832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 nouveaux outils développés pour nos autres métiers</a:t>
            </a:r>
            <a:endParaRPr lang="en-US" sz="1600" dirty="0"/>
          </a:p>
        </p:txBody>
      </p:sp>
      <p:sp>
        <p:nvSpPr>
          <p:cNvPr id="27" name="Coche 4 – fond"/>
          <p:cNvSpPr/>
          <p:nvPr/>
        </p:nvSpPr>
        <p:spPr>
          <a:xfrm>
            <a:off x="6675120" y="4297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Coch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3875" y="4396435"/>
            <a:ext cx="168250" cy="168250"/>
          </a:xfrm>
          <a:prstGeom prst="rect">
            <a:avLst/>
          </a:prstGeom>
        </p:spPr>
      </p:pic>
      <p:sp>
        <p:nvSpPr>
          <p:cNvPr id="29" name="Bénéfice 4"/>
          <p:cNvSpPr txBox="1"/>
          <p:nvPr/>
        </p:nvSpPr>
        <p:spPr>
          <a:xfrm>
            <a:off x="7269480" y="4114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développement mené en interne, au plus près du terrain</a:t>
            </a:r>
            <a:endParaRPr lang="en-US" sz="1600" dirty="0"/>
          </a:p>
        </p:txBody>
      </p:sp>
      <p:sp>
        <p:nvSpPr>
          <p:cNvPr id="30" name="Bandeau"/>
          <p:cNvSpPr/>
          <p:nvPr/>
        </p:nvSpPr>
        <p:spPr>
          <a:xfrm>
            <a:off x="548640" y="521208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Bandeau – texte"/>
          <p:cNvSpPr txBox="1"/>
          <p:nvPr/>
        </p:nvSpPr>
        <p:spPr>
          <a:xfrm>
            <a:off x="822960" y="5212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Actionnaire d'Eurofeu, je souhaite avant tout la réussite de l'entreprise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PLACE À LA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PRÉSENTATION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 À LA DÉMO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tx1"/>
                </a:solidFill>
              </a:rPr>
              <a:t>Le constat : les difficultés du terrain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AVANT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2412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500" spc="200">
                <a:solidFill>
                  <a:srgbClr val="FFFFFF"/>
                </a:solidFill>
              </a:rPr>
              <a:t>N5 · RIA</a:t>
            </a:r>
          </a:p>
        </p:txBody>
      </p:sp>
      <p:pic>
        <p:nvPicPr>
          <p:cNvPr id="6" name="Picture 5" descr="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03503" y="3218688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3503" y="3218688"/>
            <a:ext cx="16047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Étude à la cordelette</a:t>
            </a:r>
          </a:p>
        </p:txBody>
      </p:sp>
      <p:pic>
        <p:nvPicPr>
          <p:cNvPr id="9" name="Picture 8" descr="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2409444" y="3218688"/>
            <a:ext cx="1485900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09444" y="3218688"/>
            <a:ext cx="14859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Plan sur PowerPoint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5818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3850355"/>
            <a:ext cx="199704" cy="19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373075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Étude complexe et approximative, à la cordelette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30682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4398995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51560" y="427939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Plan redessiné sur PowerPoint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85546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4947635"/>
            <a:ext cx="199704" cy="1997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1560" y="482803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Notes de calcul Fathom : 4 000 € / 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5" y="102412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34255" y="1024128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500" spc="200">
                <a:solidFill>
                  <a:srgbClr val="FFFFFF"/>
                </a:solidFill>
              </a:rPr>
              <a:t>N7 · DÉTECTION</a:t>
            </a:r>
          </a:p>
        </p:txBody>
      </p:sp>
      <p:pic>
        <p:nvPicPr>
          <p:cNvPr id="23" name="Picture 22" descr="c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4255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4389119" y="321868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89119" y="321868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Étude sur PowerPoint</a:t>
            </a:r>
          </a:p>
        </p:txBody>
      </p:sp>
      <p:pic>
        <p:nvPicPr>
          <p:cNvPr id="26" name="Picture 25" descr="c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196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195059" y="3218688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5059" y="3218688"/>
            <a:ext cx="16047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Plan technicien approximatif</a:t>
            </a:r>
          </a:p>
        </p:txBody>
      </p:sp>
      <p:sp>
        <p:nvSpPr>
          <p:cNvPr id="29" name="Oval 28"/>
          <p:cNvSpPr/>
          <p:nvPr/>
        </p:nvSpPr>
        <p:spPr>
          <a:xfrm>
            <a:off x="4334255" y="375818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6427" y="3850355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37175" y="373075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Étude longue, faite à la main</a:t>
            </a:r>
          </a:p>
        </p:txBody>
      </p:sp>
      <p:sp>
        <p:nvSpPr>
          <p:cNvPr id="32" name="Oval 31"/>
          <p:cNvSpPr/>
          <p:nvPr/>
        </p:nvSpPr>
        <p:spPr>
          <a:xfrm>
            <a:off x="4334255" y="430682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6427" y="4398995"/>
            <a:ext cx="199704" cy="1997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37175" y="427939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DOE long à réaliser</a:t>
            </a:r>
          </a:p>
        </p:txBody>
      </p:sp>
      <p:sp>
        <p:nvSpPr>
          <p:cNvPr id="35" name="Oval 34"/>
          <p:cNvSpPr/>
          <p:nvPr/>
        </p:nvSpPr>
        <p:spPr>
          <a:xfrm>
            <a:off x="4334255" y="485546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6427" y="4947635"/>
            <a:ext cx="199704" cy="1997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837175" y="482803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Plan technicien approximatif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9871" y="102412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19871" y="1024128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500" spc="200">
                <a:solidFill>
                  <a:srgbClr val="FFFFFF"/>
                </a:solidFill>
              </a:rPr>
              <a:t>N4 · EXTINCTEURS</a:t>
            </a:r>
          </a:p>
        </p:txBody>
      </p:sp>
      <p:pic>
        <p:nvPicPr>
          <p:cNvPr id="40" name="Picture 39" descr="c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9871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41" name="Rounded Rectangle 40"/>
          <p:cNvSpPr/>
          <p:nvPr/>
        </p:nvSpPr>
        <p:spPr>
          <a:xfrm>
            <a:off x="8174736" y="3218688"/>
            <a:ext cx="1348739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74736" y="3218688"/>
            <a:ext cx="13487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Fluo et gommettes</a:t>
            </a:r>
          </a:p>
        </p:txBody>
      </p:sp>
      <p:pic>
        <p:nvPicPr>
          <p:cNvPr id="43" name="Picture 42" descr="c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5811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44" name="Rounded Rectangle 43"/>
          <p:cNvSpPr/>
          <p:nvPr/>
        </p:nvSpPr>
        <p:spPr>
          <a:xfrm>
            <a:off x="9980676" y="3218688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980676" y="3218688"/>
            <a:ext cx="16047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Plan technicien approximatif</a:t>
            </a:r>
          </a:p>
        </p:txBody>
      </p:sp>
      <p:sp>
        <p:nvSpPr>
          <p:cNvPr id="46" name="Oval 45"/>
          <p:cNvSpPr/>
          <p:nvPr/>
        </p:nvSpPr>
        <p:spPr>
          <a:xfrm>
            <a:off x="8119871" y="375818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2043" y="3850355"/>
            <a:ext cx="199704" cy="1997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22792" y="373075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Dossiers non homogènes : fluo, gommettes</a:t>
            </a:r>
          </a:p>
        </p:txBody>
      </p:sp>
      <p:sp>
        <p:nvSpPr>
          <p:cNvPr id="49" name="Oval 48"/>
          <p:cNvSpPr/>
          <p:nvPr/>
        </p:nvSpPr>
        <p:spPr>
          <a:xfrm>
            <a:off x="8119871" y="430682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2043" y="4398995"/>
            <a:ext cx="199704" cy="19970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622792" y="427939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Plan technicien approximatif</a:t>
            </a:r>
          </a:p>
        </p:txBody>
      </p:sp>
      <p:sp>
        <p:nvSpPr>
          <p:cNvPr id="52" name="Oval 51"/>
          <p:cNvSpPr/>
          <p:nvPr/>
        </p:nvSpPr>
        <p:spPr>
          <a:xfrm>
            <a:off x="8119871" y="485546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2043" y="4947635"/>
            <a:ext cx="199704" cy="19970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622792" y="482803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Dossier Excel rempli à la main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486400"/>
            <a:ext cx="11091672" cy="420624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7240" y="5486400"/>
            <a:ext cx="10698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Résultat : des plans refaits à chaque étape, des dossiers inégaux, du temps perdu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N5 · RIA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864656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N5 ·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Implantation RIA Pro + HydraRIA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2140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121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8483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Un plan propre, une étude nickel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Implantation à l'échelle, couverture calculée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282696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3447288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4472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3282696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Pertes de charge et vue isométrique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2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2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DOE se génère tout seul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N5 · RIA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864656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N5 ·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Implantation RIA Pro + HydraRIA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nickel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8950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8895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852928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Pertes de charge et vue isométrique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Note de calcul intégrée, plus de Fathom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1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1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DOE se génère tout seul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N5 · RIA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864656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N5 ·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Implantation RIA Pro + HydraRIA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nickel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71215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44368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3104" y="2706624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Pertes de charge et vue isométrique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47472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365760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3657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621024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DOE se génère tout seul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Réception, plans, fiches techniques : tout est réuni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N7 · Détection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238829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N7 · DÉTECTION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DetectR7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2140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121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8483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Un plan propre, une étude nickel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Implantation, câblage et synoptique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282696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3447288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4472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3282696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DOE en 1 clic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2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2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chiffrage Eurofeu se remplit tout seul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N7 · Détection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238829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N7 · DÉTECTION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DetectR7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nickel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8950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8895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852928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DOE en 1 clic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Le dossier complet, directement à partir de l'étude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1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1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chiffrage Eurofeu se remplit tout seul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N7 · Détection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238829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N7 · DÉTECTION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DetectR7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nickel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71215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44368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3104" y="2706624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Le DOE en 1 clic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47472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365760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3657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621024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chiffrage Eurofeu se remplit tout seul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Le fichier Excel Eurofeu complété automatiquement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N4 · Extincteurs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363553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N4 · EXTINCTEURS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N4 Conceptor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2140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121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8483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dossier N4 Eurofeu se complète tout seul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Pochette, établissement, audit R4, relevé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282696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3447288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4472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3282696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Un plan technicien nickel pour intervenir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N4 · Extincteurs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363553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N4 · EXTINCTEURS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N4 Conceptor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Le dossier N4 Eurofeu se complète tout seul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8950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8895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852928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Un plan technicien nickel pour intervenir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Appareils à remplacer repérés, liste prête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rofeu Solutions">
  <a:themeElements>
    <a:clrScheme name="Eurofeu Solutions">
      <a:dk1>
        <a:srgbClr val="272B60"/>
      </a:dk1>
      <a:lt1>
        <a:srgbClr val="FFFFFF"/>
      </a:lt1>
      <a:dk2>
        <a:srgbClr val="4B4F6B"/>
      </a:dk2>
      <a:lt2>
        <a:srgbClr val="F1F2F9"/>
      </a:lt2>
      <a:accent1>
        <a:srgbClr val="E30613"/>
      </a:accent1>
      <a:accent2>
        <a:srgbClr val="272B60"/>
      </a:accent2>
      <a:accent3>
        <a:srgbClr val="6C76C9"/>
      </a:accent3>
      <a:accent4>
        <a:srgbClr val="DBDDEC"/>
      </a:accent4>
      <a:accent5>
        <a:srgbClr val="8E93B5"/>
      </a:accent5>
      <a:accent6>
        <a:srgbClr val="1E9E5A"/>
      </a:accent6>
      <a:hlink>
        <a:srgbClr val="E30613"/>
      </a:hlink>
      <a:folHlink>
        <a:srgbClr val="6C76C9"/>
      </a:folHlink>
    </a:clrScheme>
    <a:fontScheme name="Eurofeu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Eurofeu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Outils métier N4 · N5 · N7</dc:title>
  <dc:subject>PptxGenJS Presentation</dc:subject>
  <dc:creator>Romain Couchez</dc:creator>
  <cp:lastModifiedBy>Romain Couchez</cp:lastModifiedBy>
  <cp:revision>1</cp:revision>
  <dcterms:created xsi:type="dcterms:W3CDTF">2026-10-10T09:48:18Z</dcterms:created>
  <dcterms:modified xsi:type="dcterms:W3CDTF">2026-10-10T09:48:18Z</dcterms:modified>
</cp:coreProperties>
</file>